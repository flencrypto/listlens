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sleek_high_tech_promotional_scene_ui_mockup_c.png">    </p:cNvPr>
          <p:cNvPicPr>
            <a:picLocks noChangeAspect="1"/>
          </p:cNvPicPr>
          <p:nvPr/>
        </p:nvPicPr>
        <p:blipFill>
          <a:blip r:embed="rId1"/>
          <a:srcRect l="23999" r="23999" t="0" b="0"/>
          <a:stretch/>
        </p:blipFill>
        <p:spPr>
          <a:xfrm>
            <a:off x="5852160" y="0"/>
            <a:ext cx="633679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640080"/>
            <a:ext cx="1828800" cy="310896"/>
          </a:xfrm>
          <a:prstGeom prst="rect">
            <a:avLst/>
          </a:prstGeom>
          <a:solidFill>
            <a:srgbClr val="B8F53D"/>
          </a:solidFill>
          <a:ln>
            <a:solidFill>
              <a:srgbClr val="B8F53D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1220"/>
                </a:solidFill>
              </a:rPr>
              <a:t>COMPETITOR ANALYSIS</a:t>
            </a:r>
            <a:endParaRPr lang="en-US" sz="850" dirty="0"/>
          </a:p>
        </p:txBody>
      </p:sp>
      <p:sp>
        <p:nvSpPr>
          <p:cNvPr id="4" name="Text 1"/>
          <p:cNvSpPr/>
          <p:nvPr/>
        </p:nvSpPr>
        <p:spPr>
          <a:xfrm>
            <a:off x="594360" y="141732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ListLens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621792" y="2176272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D8E4F1"/>
                </a:solidFill>
              </a:rPr>
              <a:t>Competitive landscape &amp; POC positioning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621792" y="324612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AFC2D9"/>
                </a:solidFill>
              </a:rPr>
              <a:t>AI resale intelligence for eBay + Vinted: seller listings, buyer risk checks, and specialist category lenses.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640080" y="4325112"/>
            <a:ext cx="4023360" cy="0"/>
          </a:xfrm>
          <a:prstGeom prst="line">
            <a:avLst/>
          </a:prstGeom>
          <a:noFill/>
          <a:ln w="25400">
            <a:solidFill>
              <a:srgbClr val="B8F53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21792" y="4617720"/>
            <a:ext cx="43891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8193A7"/>
                </a:solidFill>
              </a:rPr>
              <a:t>Prepared for POC decision-making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02920" y="656539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C8EA4"/>
                </a:solidFill>
              </a:rPr>
              <a:t>ListLens competitor analysis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11475720" y="6528816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C8EA4"/>
                </a:solidFill>
              </a:rPr>
              <a:t>01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Executive readout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FD1E5"/>
                </a:solidFill>
              </a:rPr>
              <a:t>The market is already busy. ListLens should win by going trust-first, not listing-generator-first.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2700">
            <a:solidFill>
              <a:srgbClr val="23415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435608"/>
            <a:ext cx="411480" cy="411480"/>
          </a:xfrm>
          <a:prstGeom prst="rect">
            <a:avLst/>
          </a:prstGeom>
          <a:solidFill>
            <a:srgbClr val="B8F53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220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34440" y="1417320"/>
            <a:ext cx="4389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The category is commoditising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34440" y="1764792"/>
            <a:ext cx="969264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BFD1E5"/>
                </a:solidFill>
              </a:rPr>
              <a:t>Photo → title/description is now table stakes across marketplace-native tools and indie AI listers.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2551176"/>
            <a:ext cx="411480" cy="411480"/>
          </a:xfrm>
          <a:prstGeom prst="rect">
            <a:avLst/>
          </a:prstGeom>
          <a:solidFill>
            <a:srgbClr val="B8F53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220"/>
                </a:solidFill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34440" y="2532888"/>
            <a:ext cx="4389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The wedge is trust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34440" y="2880360"/>
            <a:ext cx="969264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BFD1E5"/>
                </a:solidFill>
              </a:rPr>
              <a:t>ListLens has a stronger lane as a portable buyer/seller risk layer across eBay and Vinted.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85800" y="3666744"/>
            <a:ext cx="411480" cy="411480"/>
          </a:xfrm>
          <a:prstGeom prst="rect">
            <a:avLst/>
          </a:prstGeom>
          <a:solidFill>
            <a:srgbClr val="B8F53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220"/>
                </a:solidFill>
              </a:rPr>
              <a:t>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34440" y="3648456"/>
            <a:ext cx="4389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SoleLens is the best POC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34440" y="3995928"/>
            <a:ext cx="969264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BFD1E5"/>
                </a:solidFill>
              </a:rPr>
              <a:t>Trainers have high volume, replica anxiety, photo-based evidence, and clear buyer willingness to pay.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85800" y="4782312"/>
            <a:ext cx="411480" cy="411480"/>
          </a:xfrm>
          <a:prstGeom prst="rect">
            <a:avLst/>
          </a:prstGeom>
          <a:solidFill>
            <a:srgbClr val="B8F53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220"/>
                </a:solidFill>
              </a:rPr>
              <a:t>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34440" y="4764024"/>
            <a:ext cx="4389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Do not chase crosslisting yet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34440" y="5111496"/>
            <a:ext cx="969264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BFD1E5"/>
                </a:solidFill>
              </a:rPr>
              <a:t>Inventory sync and bulk listing are a trap for the POC; prove category insight and Guard monetisation first.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02920" y="656539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C8EA4"/>
                </a:solidFill>
              </a:rPr>
              <a:t>ListLens competitor analysis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1475720" y="6528816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C8EA4"/>
                </a:solidFill>
              </a:rPr>
              <a:t>02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Where ListLens sits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FD1E5"/>
                </a:solidFill>
              </a:rPr>
              <a:t>ListLens is between listing productivity, marketplace-native AI, and buyer-side trust.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2700">
            <a:solidFill>
              <a:srgbClr val="23415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3886200"/>
            <a:ext cx="10149840" cy="0"/>
          </a:xfrm>
          <a:prstGeom prst="line">
            <a:avLst/>
          </a:prstGeom>
          <a:noFill/>
          <a:ln w="15240">
            <a:solidFill>
              <a:srgbClr val="54678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99048" y="1325880"/>
            <a:ext cx="0" cy="4983480"/>
          </a:xfrm>
          <a:prstGeom prst="line">
            <a:avLst/>
          </a:prstGeom>
          <a:noFill/>
          <a:ln w="15240">
            <a:solidFill>
              <a:srgbClr val="5467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143000"/>
            <a:ext cx="21031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FD1E5"/>
                </a:solidFill>
              </a:rPr>
              <a:t>Seller workflow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509760" y="1143000"/>
            <a:ext cx="21031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FD1E5"/>
                </a:solidFill>
              </a:rPr>
              <a:t>Buyer trust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281928" y="1417320"/>
            <a:ext cx="16459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FD1E5"/>
                </a:solidFill>
              </a:rPr>
              <a:t>Platform-native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281928" y="6007608"/>
            <a:ext cx="16459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FD1E5"/>
                </a:solidFill>
              </a:rPr>
              <a:t>Portable tools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127248" y="1938528"/>
            <a:ext cx="146304" cy="146304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10128" y="1920240"/>
            <a:ext cx="18288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D8E4F1"/>
                </a:solidFill>
              </a:rPr>
              <a:t>eBay AI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339328" y="1892808"/>
            <a:ext cx="146304" cy="146304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22208" y="1874520"/>
            <a:ext cx="18288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D8E4F1"/>
                </a:solidFill>
              </a:rPr>
              <a:t>Vinted verification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847088" y="4636008"/>
            <a:ext cx="146304" cy="14630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29968" y="4617720"/>
            <a:ext cx="18288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D8E4F1"/>
                </a:solidFill>
              </a:rPr>
              <a:t>Vinting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172968" y="4910328"/>
            <a:ext cx="146304" cy="14630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55848" y="4892040"/>
            <a:ext cx="18288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D8E4F1"/>
                </a:solidFill>
              </a:rPr>
              <a:t>SellerAider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315968" y="5184648"/>
            <a:ext cx="146304" cy="14630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98848" y="5166360"/>
            <a:ext cx="18288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D8E4F1"/>
                </a:solidFill>
              </a:rPr>
              <a:t>Vendoo / Crosslist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9025128" y="4727448"/>
            <a:ext cx="146304" cy="146304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08008" y="4709160"/>
            <a:ext cx="18288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D8E4F1"/>
                </a:solidFill>
              </a:rPr>
              <a:t>CheckCheck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8476488" y="2761488"/>
            <a:ext cx="146304" cy="146304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59368" y="2743200"/>
            <a:ext cx="18288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D8E4F1"/>
                </a:solidFill>
              </a:rPr>
              <a:t>StockX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281928" y="4544568"/>
            <a:ext cx="146304" cy="146304"/>
          </a:xfrm>
          <a:prstGeom prst="ellipse">
            <a:avLst/>
          </a:prstGeom>
          <a:solidFill>
            <a:srgbClr val="B8F53D"/>
          </a:solidFill>
          <a:ln w="12700">
            <a:solidFill>
              <a:srgbClr val="B8F5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64808" y="4526280"/>
            <a:ext cx="18288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ListLens target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102352" y="3054096"/>
            <a:ext cx="2103120" cy="1325880"/>
          </a:xfrm>
          <a:prstGeom prst="rect">
            <a:avLst/>
          </a:prstGeom>
          <a:solidFill>
            <a:srgbClr val="B8F53D">
              <a:alpha val="18000"/>
            </a:srgbClr>
          </a:solidFill>
          <a:ln w="19050">
            <a:solidFill>
              <a:srgbClr val="B8F53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White space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Portable resale intelligence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+ specialist risk checks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2920" y="656539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C8EA4"/>
                </a:solidFill>
              </a:rPr>
              <a:t>ListLens competitor analysis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11475720" y="6528816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C8EA4"/>
                </a:solidFill>
              </a:rPr>
              <a:t>03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Competitive threat stack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FD1E5"/>
                </a:solidFill>
              </a:rPr>
              <a:t>The most dangerous rivals own either the marketplace flow or the reseller workflow.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2700">
            <a:solidFill>
              <a:srgbClr val="23415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325880"/>
            <a:ext cx="10058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FA3BA"/>
                </a:solidFill>
              </a:rPr>
              <a:t>Threat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011680" y="1325880"/>
            <a:ext cx="23774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FA3BA"/>
                </a:solidFill>
              </a:rPr>
              <a:t>Competitor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663440" y="1325880"/>
            <a:ext cx="42976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FA3BA"/>
                </a:solidFill>
              </a:rPr>
              <a:t>Why it matters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418320" y="1325880"/>
            <a:ext cx="14630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FA3BA"/>
                </a:solidFill>
              </a:rPr>
              <a:t>ListLens response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85800" y="1563624"/>
            <a:ext cx="10698480" cy="0"/>
          </a:xfrm>
          <a:prstGeom prst="line">
            <a:avLst/>
          </a:prstGeom>
          <a:noFill/>
          <a:ln w="6350">
            <a:solidFill>
              <a:srgbClr val="2336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691640"/>
            <a:ext cx="868680" cy="256032"/>
          </a:xfrm>
          <a:prstGeom prst="rect">
            <a:avLst/>
          </a:prstGeom>
          <a:solidFill>
            <a:srgbClr val="EF4444">
              <a:alpha val="90000"/>
            </a:srgbClr>
          </a:solidFill>
          <a:ln>
            <a:solidFill>
              <a:srgbClr val="EF4444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</a:rPr>
              <a:t>Very high</a:t>
            </a:r>
            <a:endParaRPr lang="en-US" sz="780" dirty="0"/>
          </a:p>
        </p:txBody>
      </p:sp>
      <p:sp>
        <p:nvSpPr>
          <p:cNvPr id="11" name="Text 9"/>
          <p:cNvSpPr/>
          <p:nvPr/>
        </p:nvSpPr>
        <p:spPr>
          <a:xfrm>
            <a:off x="2011680" y="1673352"/>
            <a:ext cx="237744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eBay AI + Product Research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663440" y="1673352"/>
            <a:ext cx="42976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C7D7EA"/>
                </a:solidFill>
              </a:rPr>
              <a:t>Native workflow, marketplace data, trust badge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9418320" y="1673352"/>
            <a:ext cx="146304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8F53D"/>
                </a:solidFill>
              </a:rPr>
              <a:t>Differentiate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85800" y="2185416"/>
            <a:ext cx="10698480" cy="0"/>
          </a:xfrm>
          <a:prstGeom prst="line">
            <a:avLst/>
          </a:prstGeom>
          <a:noFill/>
          <a:ln w="6350">
            <a:solidFill>
              <a:srgbClr val="2336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2313432"/>
            <a:ext cx="868680" cy="256032"/>
          </a:xfrm>
          <a:prstGeom prst="rect">
            <a:avLst/>
          </a:prstGeom>
          <a:solidFill>
            <a:srgbClr val="EF4444">
              <a:alpha val="90000"/>
            </a:srgbClr>
          </a:solidFill>
          <a:ln>
            <a:solidFill>
              <a:srgbClr val="EF4444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</a:rPr>
              <a:t>Very high</a:t>
            </a:r>
            <a:endParaRPr lang="en-US" sz="780" dirty="0"/>
          </a:p>
        </p:txBody>
      </p:sp>
      <p:sp>
        <p:nvSpPr>
          <p:cNvPr id="16" name="Text 14"/>
          <p:cNvSpPr/>
          <p:nvPr/>
        </p:nvSpPr>
        <p:spPr>
          <a:xfrm>
            <a:off x="2011680" y="2295144"/>
            <a:ext cx="237744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Vinting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663440" y="2295144"/>
            <a:ext cx="42976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C7D7EA"/>
                </a:solidFill>
              </a:rPr>
              <a:t>UK-first eBay/Vinted/Gumtree AI listing angle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9418320" y="2295144"/>
            <a:ext cx="146304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8F53D"/>
                </a:solidFill>
              </a:rPr>
              <a:t>Differentiate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85800" y="2807208"/>
            <a:ext cx="10698480" cy="0"/>
          </a:xfrm>
          <a:prstGeom prst="line">
            <a:avLst/>
          </a:prstGeom>
          <a:noFill/>
          <a:ln w="6350">
            <a:solidFill>
              <a:srgbClr val="2336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2935224"/>
            <a:ext cx="868680" cy="256032"/>
          </a:xfrm>
          <a:prstGeom prst="rect">
            <a:avLst/>
          </a:prstGeom>
          <a:solidFill>
            <a:srgbClr val="F97316">
              <a:alpha val="90000"/>
            </a:srgbClr>
          </a:solidFill>
          <a:ln>
            <a:solidFill>
              <a:srgbClr val="F97316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</a:rPr>
              <a:t>High</a:t>
            </a:r>
            <a:endParaRPr lang="en-US" sz="780" dirty="0"/>
          </a:p>
        </p:txBody>
      </p:sp>
      <p:sp>
        <p:nvSpPr>
          <p:cNvPr id="21" name="Text 19"/>
          <p:cNvSpPr/>
          <p:nvPr/>
        </p:nvSpPr>
        <p:spPr>
          <a:xfrm>
            <a:off x="2011680" y="2916936"/>
            <a:ext cx="237744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SellerAider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663440" y="2916936"/>
            <a:ext cx="42976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C7D7EA"/>
                </a:solidFill>
              </a:rPr>
              <a:t>AI listing + crosslisting + automation + inventory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9418320" y="2916936"/>
            <a:ext cx="146304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8F53D"/>
                </a:solidFill>
              </a:rPr>
              <a:t>Out-focus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85800" y="3429000"/>
            <a:ext cx="10698480" cy="0"/>
          </a:xfrm>
          <a:prstGeom prst="line">
            <a:avLst/>
          </a:prstGeom>
          <a:noFill/>
          <a:ln w="6350">
            <a:solidFill>
              <a:srgbClr val="23365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3557016"/>
            <a:ext cx="868680" cy="256032"/>
          </a:xfrm>
          <a:prstGeom prst="rect">
            <a:avLst/>
          </a:prstGeom>
          <a:solidFill>
            <a:srgbClr val="F97316">
              <a:alpha val="90000"/>
            </a:srgbClr>
          </a:solidFill>
          <a:ln>
            <a:solidFill>
              <a:srgbClr val="F97316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</a:rPr>
              <a:t>High</a:t>
            </a:r>
            <a:endParaRPr lang="en-US" sz="780" dirty="0"/>
          </a:p>
        </p:txBody>
      </p:sp>
      <p:sp>
        <p:nvSpPr>
          <p:cNvPr id="26" name="Text 24"/>
          <p:cNvSpPr/>
          <p:nvPr/>
        </p:nvSpPr>
        <p:spPr>
          <a:xfrm>
            <a:off x="2011680" y="3538728"/>
            <a:ext cx="237744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Snap2List / 3Dsellers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663440" y="3538728"/>
            <a:ext cx="42976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C7D7EA"/>
                </a:solidFill>
              </a:rPr>
              <a:t>Strong eBay listing creation and pricing flow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9418320" y="3538728"/>
            <a:ext cx="146304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8F53D"/>
                </a:solidFill>
              </a:rPr>
              <a:t>Out-focus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85800" y="4050792"/>
            <a:ext cx="10698480" cy="0"/>
          </a:xfrm>
          <a:prstGeom prst="line">
            <a:avLst/>
          </a:prstGeom>
          <a:noFill/>
          <a:ln w="6350">
            <a:solidFill>
              <a:srgbClr val="23365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" y="4178808"/>
            <a:ext cx="868680" cy="256032"/>
          </a:xfrm>
          <a:prstGeom prst="rect">
            <a:avLst/>
          </a:prstGeom>
          <a:solidFill>
            <a:srgbClr val="F97316">
              <a:alpha val="90000"/>
            </a:srgbClr>
          </a:solidFill>
          <a:ln>
            <a:solidFill>
              <a:srgbClr val="F97316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</a:rPr>
              <a:t>High</a:t>
            </a:r>
            <a:endParaRPr lang="en-US" sz="780" dirty="0"/>
          </a:p>
        </p:txBody>
      </p:sp>
      <p:sp>
        <p:nvSpPr>
          <p:cNvPr id="31" name="Text 29"/>
          <p:cNvSpPr/>
          <p:nvPr/>
        </p:nvSpPr>
        <p:spPr>
          <a:xfrm>
            <a:off x="2011680" y="4160520"/>
            <a:ext cx="237744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CheckCheck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663440" y="4160520"/>
            <a:ext cx="42976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C7D7EA"/>
                </a:solidFill>
              </a:rPr>
              <a:t>Human-led sneaker/luxury authentication credibility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9418320" y="4160520"/>
            <a:ext cx="146304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8F53D"/>
                </a:solidFill>
              </a:rPr>
              <a:t>Out-focus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85800" y="4672584"/>
            <a:ext cx="10698480" cy="0"/>
          </a:xfrm>
          <a:prstGeom prst="line">
            <a:avLst/>
          </a:prstGeom>
          <a:noFill/>
          <a:ln w="6350">
            <a:solidFill>
              <a:srgbClr val="23365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31520" y="4800600"/>
            <a:ext cx="868680" cy="256032"/>
          </a:xfrm>
          <a:prstGeom prst="rect">
            <a:avLst/>
          </a:prstGeom>
          <a:solidFill>
            <a:srgbClr val="EAB308">
              <a:alpha val="90000"/>
            </a:srgbClr>
          </a:solidFill>
          <a:ln>
            <a:solidFill>
              <a:srgbClr val="EAB308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</a:rPr>
              <a:t>Medium–High</a:t>
            </a:r>
            <a:endParaRPr lang="en-US" sz="780" dirty="0"/>
          </a:p>
        </p:txBody>
      </p:sp>
      <p:sp>
        <p:nvSpPr>
          <p:cNvPr id="36" name="Text 34"/>
          <p:cNvSpPr/>
          <p:nvPr/>
        </p:nvSpPr>
        <p:spPr>
          <a:xfrm>
            <a:off x="2011680" y="4782312"/>
            <a:ext cx="237744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Vendoo / Crosslist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663440" y="4782312"/>
            <a:ext cx="42976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C7D7EA"/>
                </a:solidFill>
              </a:rPr>
              <a:t>Crosslisting and inventory infrastructure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9418320" y="4782312"/>
            <a:ext cx="146304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8F53D"/>
                </a:solidFill>
              </a:rPr>
              <a:t>Defer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85800" y="5294376"/>
            <a:ext cx="10698480" cy="0"/>
          </a:xfrm>
          <a:prstGeom prst="line">
            <a:avLst/>
          </a:prstGeom>
          <a:noFill/>
          <a:ln w="6350">
            <a:solidFill>
              <a:srgbClr val="23365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31520" y="5422392"/>
            <a:ext cx="868680" cy="256032"/>
          </a:xfrm>
          <a:prstGeom prst="rect">
            <a:avLst/>
          </a:prstGeom>
          <a:solidFill>
            <a:srgbClr val="EAB308">
              <a:alpha val="90000"/>
            </a:srgbClr>
          </a:solidFill>
          <a:ln>
            <a:solidFill>
              <a:srgbClr val="EAB308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</a:rPr>
              <a:t>Medium</a:t>
            </a:r>
            <a:endParaRPr lang="en-US" sz="780" dirty="0"/>
          </a:p>
        </p:txBody>
      </p:sp>
      <p:sp>
        <p:nvSpPr>
          <p:cNvPr id="41" name="Text 39"/>
          <p:cNvSpPr/>
          <p:nvPr/>
        </p:nvSpPr>
        <p:spPr>
          <a:xfrm>
            <a:off x="2011680" y="5404104"/>
            <a:ext cx="237744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Vinted Item Verification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4663440" y="5404104"/>
            <a:ext cx="42976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C7D7EA"/>
                </a:solidFill>
              </a:rPr>
              <a:t>Important price anchor and platform-native trust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9418320" y="5404104"/>
            <a:ext cx="146304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8F53D"/>
                </a:solidFill>
              </a:rPr>
              <a:t>Defer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502920" y="656539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C8EA4"/>
                </a:solidFill>
              </a:rPr>
              <a:t>ListLens competitor analysis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11475720" y="6528816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C8EA4"/>
                </a:solidFill>
              </a:rPr>
              <a:t>04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Feature comparison: ListLens versus the field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FD1E5"/>
                </a:solidFill>
              </a:rPr>
              <a:t>The core gap is buyer risk + missing evidence + seller questions, not plain listing copy.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2700">
            <a:solidFill>
              <a:srgbClr val="23415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325880"/>
            <a:ext cx="24231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FA3BA"/>
                </a:solidFill>
              </a:rPr>
              <a:t>Capability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46120" y="1325880"/>
            <a:ext cx="9601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8FA3BA"/>
                </a:solidFill>
              </a:rPr>
              <a:t>ListLens</a:t>
            </a:r>
            <a:endParaRPr lang="en-US" sz="840" dirty="0"/>
          </a:p>
        </p:txBody>
      </p:sp>
      <p:sp>
        <p:nvSpPr>
          <p:cNvPr id="7" name="Text 5"/>
          <p:cNvSpPr/>
          <p:nvPr/>
        </p:nvSpPr>
        <p:spPr>
          <a:xfrm>
            <a:off x="4206240" y="1325880"/>
            <a:ext cx="9601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8FA3BA"/>
                </a:solidFill>
              </a:rPr>
              <a:t>eBay AI</a:t>
            </a:r>
            <a:endParaRPr lang="en-US" sz="840" dirty="0"/>
          </a:p>
        </p:txBody>
      </p:sp>
      <p:sp>
        <p:nvSpPr>
          <p:cNvPr id="8" name="Text 6"/>
          <p:cNvSpPr/>
          <p:nvPr/>
        </p:nvSpPr>
        <p:spPr>
          <a:xfrm>
            <a:off x="5166360" y="1325880"/>
            <a:ext cx="9601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8FA3BA"/>
                </a:solidFill>
              </a:rPr>
              <a:t>Vinting</a:t>
            </a:r>
            <a:endParaRPr lang="en-US" sz="840" dirty="0"/>
          </a:p>
        </p:txBody>
      </p:sp>
      <p:sp>
        <p:nvSpPr>
          <p:cNvPr id="9" name="Text 7"/>
          <p:cNvSpPr/>
          <p:nvPr/>
        </p:nvSpPr>
        <p:spPr>
          <a:xfrm>
            <a:off x="6126480" y="1325880"/>
            <a:ext cx="9601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8FA3BA"/>
                </a:solidFill>
              </a:rPr>
              <a:t>SellerAider</a:t>
            </a:r>
            <a:endParaRPr lang="en-US" sz="840" dirty="0"/>
          </a:p>
        </p:txBody>
      </p:sp>
      <p:sp>
        <p:nvSpPr>
          <p:cNvPr id="10" name="Text 8"/>
          <p:cNvSpPr/>
          <p:nvPr/>
        </p:nvSpPr>
        <p:spPr>
          <a:xfrm>
            <a:off x="7086600" y="1325880"/>
            <a:ext cx="9601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8FA3BA"/>
                </a:solidFill>
              </a:rPr>
              <a:t>Crosslist</a:t>
            </a:r>
            <a:endParaRPr lang="en-US" sz="840" dirty="0"/>
          </a:p>
        </p:txBody>
      </p:sp>
      <p:sp>
        <p:nvSpPr>
          <p:cNvPr id="11" name="Text 9"/>
          <p:cNvSpPr/>
          <p:nvPr/>
        </p:nvSpPr>
        <p:spPr>
          <a:xfrm>
            <a:off x="8046720" y="1325880"/>
            <a:ext cx="9601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8FA3BA"/>
                </a:solidFill>
              </a:rPr>
              <a:t>CheckCheck</a:t>
            </a:r>
            <a:endParaRPr lang="en-US" sz="840" dirty="0"/>
          </a:p>
        </p:txBody>
      </p:sp>
      <p:sp>
        <p:nvSpPr>
          <p:cNvPr id="12" name="Shape 10"/>
          <p:cNvSpPr/>
          <p:nvPr/>
        </p:nvSpPr>
        <p:spPr>
          <a:xfrm>
            <a:off x="685800" y="1737360"/>
            <a:ext cx="10698480" cy="0"/>
          </a:xfrm>
          <a:prstGeom prst="line">
            <a:avLst/>
          </a:prstGeom>
          <a:noFill/>
          <a:ln w="6350">
            <a:solidFill>
              <a:srgbClr val="263A5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1810512"/>
            <a:ext cx="23774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D8E4F1"/>
                </a:solidFill>
              </a:rPr>
              <a:t>Photo-to-listing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246120" y="1792224"/>
            <a:ext cx="9601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8F53D"/>
                </a:solidFill>
              </a:rPr>
              <a:t>●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206240" y="1792224"/>
            <a:ext cx="9601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8F53D"/>
                </a:solidFill>
              </a:rPr>
              <a:t>●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166360" y="1792224"/>
            <a:ext cx="9601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8F53D"/>
                </a:solidFill>
              </a:rPr>
              <a:t>●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126480" y="1792224"/>
            <a:ext cx="9601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8F53D"/>
                </a:solidFill>
              </a:rPr>
              <a:t>●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086600" y="1792224"/>
            <a:ext cx="9601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AB308"/>
                </a:solidFill>
              </a:rPr>
              <a:t>◐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046720" y="1792224"/>
            <a:ext cx="9601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4155"/>
                </a:solidFill>
              </a:rPr>
              <a:t>—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85800" y="2240280"/>
            <a:ext cx="10698480" cy="0"/>
          </a:xfrm>
          <a:prstGeom prst="line">
            <a:avLst/>
          </a:prstGeom>
          <a:noFill/>
          <a:ln w="6350">
            <a:solidFill>
              <a:srgbClr val="263A5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2313432"/>
            <a:ext cx="23774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D8E4F1"/>
                </a:solidFill>
              </a:rPr>
              <a:t>Vinted + eBay focus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246120" y="2295144"/>
            <a:ext cx="9601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8F53D"/>
                </a:solidFill>
              </a:rPr>
              <a:t>●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206240" y="2295144"/>
            <a:ext cx="9601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4155"/>
                </a:solidFill>
              </a:rPr>
              <a:t>—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166360" y="2295144"/>
            <a:ext cx="9601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8F53D"/>
                </a:solidFill>
              </a:rPr>
              <a:t>●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126480" y="2295144"/>
            <a:ext cx="9601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8F53D"/>
                </a:solidFill>
              </a:rPr>
              <a:t>●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086600" y="2295144"/>
            <a:ext cx="9601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8F53D"/>
                </a:solidFill>
              </a:rPr>
              <a:t>●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046720" y="2295144"/>
            <a:ext cx="9601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4155"/>
                </a:solidFill>
              </a:rPr>
              <a:t>—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85800" y="2743200"/>
            <a:ext cx="10698480" cy="0"/>
          </a:xfrm>
          <a:prstGeom prst="line">
            <a:avLst/>
          </a:prstGeom>
          <a:noFill/>
          <a:ln w="6350">
            <a:solidFill>
              <a:srgbClr val="263A5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2816352"/>
            <a:ext cx="23774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D8E4F1"/>
                </a:solidFill>
              </a:rPr>
              <a:t>Buyer listing risk check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246120" y="2798064"/>
            <a:ext cx="9601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8F53D"/>
                </a:solidFill>
              </a:rPr>
              <a:t>●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206240" y="2798064"/>
            <a:ext cx="9601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AB308"/>
                </a:solidFill>
              </a:rPr>
              <a:t>◐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166360" y="2798064"/>
            <a:ext cx="9601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4155"/>
                </a:solidFill>
              </a:rPr>
              <a:t>—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126480" y="2798064"/>
            <a:ext cx="9601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4155"/>
                </a:solidFill>
              </a:rPr>
              <a:t>—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086600" y="2798064"/>
            <a:ext cx="9601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4155"/>
                </a:solidFill>
              </a:rPr>
              <a:t>—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046720" y="2798064"/>
            <a:ext cx="9601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8F53D"/>
                </a:solidFill>
              </a:rPr>
              <a:t>●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85800" y="3246120"/>
            <a:ext cx="10698480" cy="0"/>
          </a:xfrm>
          <a:prstGeom prst="line">
            <a:avLst/>
          </a:prstGeom>
          <a:noFill/>
          <a:ln w="6350">
            <a:solidFill>
              <a:srgbClr val="263A5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5800" y="3319272"/>
            <a:ext cx="23774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D8E4F1"/>
                </a:solidFill>
              </a:rPr>
              <a:t>Specialist sneaker lens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3246120" y="3300984"/>
            <a:ext cx="9601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8F53D"/>
                </a:solidFill>
              </a:rPr>
              <a:t>●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4206240" y="3300984"/>
            <a:ext cx="9601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AB308"/>
                </a:solidFill>
              </a:rPr>
              <a:t>◐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5166360" y="3300984"/>
            <a:ext cx="9601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4155"/>
                </a:solidFill>
              </a:rPr>
              <a:t>—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126480" y="3300984"/>
            <a:ext cx="9601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4155"/>
                </a:solidFill>
              </a:rPr>
              <a:t>—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7086600" y="3300984"/>
            <a:ext cx="9601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4155"/>
                </a:solidFill>
              </a:rPr>
              <a:t>—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046720" y="3300984"/>
            <a:ext cx="9601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8F53D"/>
                </a:solidFill>
              </a:rPr>
              <a:t>●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85800" y="3749040"/>
            <a:ext cx="10698480" cy="0"/>
          </a:xfrm>
          <a:prstGeom prst="line">
            <a:avLst/>
          </a:prstGeom>
          <a:noFill/>
          <a:ln w="6350">
            <a:solidFill>
              <a:srgbClr val="263A5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85800" y="3822192"/>
            <a:ext cx="23774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D8E4F1"/>
                </a:solidFill>
              </a:rPr>
              <a:t>Missing-photo warnings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3246120" y="3803904"/>
            <a:ext cx="9601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8F53D"/>
                </a:solidFill>
              </a:rPr>
              <a:t>●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4206240" y="3803904"/>
            <a:ext cx="9601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AB308"/>
                </a:solidFill>
              </a:rPr>
              <a:t>◐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5166360" y="3803904"/>
            <a:ext cx="9601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4155"/>
                </a:solidFill>
              </a:rPr>
              <a:t>—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126480" y="3803904"/>
            <a:ext cx="9601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4155"/>
                </a:solidFill>
              </a:rPr>
              <a:t>—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7086600" y="3803904"/>
            <a:ext cx="9601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4155"/>
                </a:solidFill>
              </a:rPr>
              <a:t>—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8046720" y="3803904"/>
            <a:ext cx="9601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AB308"/>
                </a:solidFill>
              </a:rPr>
              <a:t>◐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85800" y="4251960"/>
            <a:ext cx="10698480" cy="0"/>
          </a:xfrm>
          <a:prstGeom prst="line">
            <a:avLst/>
          </a:prstGeom>
          <a:noFill/>
          <a:ln w="6350">
            <a:solidFill>
              <a:srgbClr val="263A5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85800" y="4325112"/>
            <a:ext cx="23774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D8E4F1"/>
                </a:solidFill>
              </a:rPr>
              <a:t>Seller questions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3246120" y="4306824"/>
            <a:ext cx="9601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8F53D"/>
                </a:solidFill>
              </a:rPr>
              <a:t>●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4206240" y="4306824"/>
            <a:ext cx="9601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4155"/>
                </a:solidFill>
              </a:rPr>
              <a:t>—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5166360" y="4306824"/>
            <a:ext cx="9601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4155"/>
                </a:solidFill>
              </a:rPr>
              <a:t>—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6126480" y="4306824"/>
            <a:ext cx="9601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4155"/>
                </a:solidFill>
              </a:rPr>
              <a:t>—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7086600" y="4306824"/>
            <a:ext cx="9601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4155"/>
                </a:solidFill>
              </a:rPr>
              <a:t>—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8046720" y="4306824"/>
            <a:ext cx="9601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4155"/>
                </a:solidFill>
              </a:rPr>
              <a:t>—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685800" y="4754880"/>
            <a:ext cx="10698480" cy="0"/>
          </a:xfrm>
          <a:prstGeom prst="line">
            <a:avLst/>
          </a:prstGeom>
          <a:noFill/>
          <a:ln w="6350">
            <a:solidFill>
              <a:srgbClr val="263A52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85800" y="4828032"/>
            <a:ext cx="23774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D8E4F1"/>
                </a:solidFill>
              </a:rPr>
              <a:t>Inventory sync / bulk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3246120" y="4809744"/>
            <a:ext cx="9601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4155"/>
                </a:solidFill>
              </a:rPr>
              <a:t>—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4206240" y="4809744"/>
            <a:ext cx="9601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AB308"/>
                </a:solidFill>
              </a:rPr>
              <a:t>◐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5166360" y="4809744"/>
            <a:ext cx="9601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4155"/>
                </a:solidFill>
              </a:rPr>
              <a:t>—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6126480" y="4809744"/>
            <a:ext cx="9601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8F53D"/>
                </a:solidFill>
              </a:rPr>
              <a:t>●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7086600" y="4809744"/>
            <a:ext cx="9601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8F53D"/>
                </a:solidFill>
              </a:rPr>
              <a:t>●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8046720" y="4809744"/>
            <a:ext cx="9601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4155"/>
                </a:solidFill>
              </a:rPr>
              <a:t>—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731520" y="5943600"/>
            <a:ext cx="91440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8396AD"/>
                </a:solidFill>
              </a:rPr>
              <a:t>Legend: ● strong support   ◐ partial/selected support   — not core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502920" y="656539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C8EA4"/>
                </a:solidFill>
              </a:rPr>
              <a:t>ListLens competitor analysis</a:t>
            </a:r>
            <a:endParaRPr lang="en-US" sz="750" dirty="0"/>
          </a:p>
        </p:txBody>
      </p:sp>
      <p:sp>
        <p:nvSpPr>
          <p:cNvPr id="70" name="Text 68"/>
          <p:cNvSpPr/>
          <p:nvPr/>
        </p:nvSpPr>
        <p:spPr>
          <a:xfrm>
            <a:off x="11475720" y="6528816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C8EA4"/>
                </a:solidFill>
              </a:rPr>
              <a:t>05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Marketplace-native threats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FD1E5"/>
                </a:solidFill>
              </a:rPr>
              <a:t>eBay and Vinted can bundle AI/trust into the purchase flow. ListLens needs portability and depth.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2700">
            <a:solidFill>
              <a:srgbClr val="23415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17320"/>
            <a:ext cx="22860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</a:rPr>
              <a:t>eBay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777240" y="1920240"/>
            <a:ext cx="4800600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E6EEF8"/>
                </a:solidFill>
              </a:rPr>
              <a:t>• Photo-to-listing and AI seller assistance are already native
</a:t>
            </a:r>
            <a:pPr indent="0" marL="0">
              <a:buNone/>
            </a:pPr>
            <a:r>
              <a:rPr lang="en-US" sz="1350" dirty="0">
                <a:solidFill>
                  <a:srgbClr val="E6EEF8"/>
                </a:solidFill>
              </a:rPr>
              <a:t>• Product Research/Terapeak gives strong pricing evidence
</a:t>
            </a:r>
            <a:pPr indent="0" marL="0">
              <a:buNone/>
            </a:pPr>
            <a:r>
              <a:rPr lang="en-US" sz="1350" dirty="0">
                <a:solidFill>
                  <a:srgbClr val="E6EEF8"/>
                </a:solidFill>
              </a:rPr>
              <a:t>• Authenticity Guarantee reduces risk for eligible categories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400800" y="1417320"/>
            <a:ext cx="22860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</a:rPr>
              <a:t>Vinted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6446520" y="1920240"/>
            <a:ext cx="4800600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E6EEF8"/>
                </a:solidFill>
              </a:rPr>
              <a:t>• Item Verification creates a clear buyer-trust benchmark
</a:t>
            </a:r>
            <a:pPr indent="0" marL="0">
              <a:buNone/>
            </a:pPr>
            <a:r>
              <a:rPr lang="en-US" sz="1350" dirty="0">
                <a:solidFill>
                  <a:srgbClr val="E6EEF8"/>
                </a:solidFill>
              </a:rPr>
              <a:t>• Purchase-stage checks leave room for earlier AI risk screens
</a:t>
            </a:r>
            <a:pPr indent="0" marL="0">
              <a:buNone/>
            </a:pPr>
            <a:r>
              <a:rPr lang="en-US" sz="1350" dirty="0">
                <a:solidFill>
                  <a:srgbClr val="E6EEF8"/>
                </a:solidFill>
              </a:rPr>
              <a:t>• Category restrictions leave a gap for broader listing analysis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989320" y="1325880"/>
            <a:ext cx="0" cy="4114800"/>
          </a:xfrm>
          <a:prstGeom prst="line">
            <a:avLst/>
          </a:prstGeom>
          <a:noFill/>
          <a:ln w="12700">
            <a:solidFill>
              <a:srgbClr val="36526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663440"/>
            <a:ext cx="10241280" cy="777240"/>
          </a:xfrm>
          <a:prstGeom prst="rect">
            <a:avLst/>
          </a:prstGeom>
          <a:solidFill>
            <a:srgbClr val="12233A"/>
          </a:solidFill>
          <a:ln w="9525">
            <a:solidFill>
              <a:srgbClr val="B8F53D">
                <a:alpha val="7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Implication: ListLens should not be “AI for eBay.” It should be the portable trust layer across marketplaces, especially where platform protection is missing or incomplete.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02920" y="656539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C8EA4"/>
                </a:solidFill>
              </a:rPr>
              <a:t>ListLens competitor analysis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1475720" y="6528816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C8EA4"/>
                </a:solidFill>
              </a:rPr>
              <a:t>06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Seller-side AI listing competitors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FD1E5"/>
                </a:solidFill>
              </a:rPr>
              <a:t>Most rivals promise speed. ListLens must demonstrate judgement.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2700">
            <a:solidFill>
              <a:srgbClr val="23415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389888"/>
            <a:ext cx="182880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Vinting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2743200" y="1408176"/>
            <a:ext cx="41148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C7D7EA"/>
                </a:solidFill>
              </a:rPr>
              <a:t>UK-first; Vinted/eBay/Gumtree; sold-data pricing claim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7269480" y="1463040"/>
            <a:ext cx="658368" cy="201168"/>
          </a:xfrm>
          <a:prstGeom prst="rightArrow">
            <a:avLst/>
          </a:prstGeom>
          <a:solidFill>
            <a:srgbClr val="36526D"/>
          </a:solidFill>
          <a:ln w="12700">
            <a:solidFill>
              <a:srgbClr val="36526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38160" y="1408176"/>
            <a:ext cx="338328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B8F53D"/>
                </a:solidFill>
              </a:rPr>
              <a:t>Beat on SoleLens depth + Guard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31520" y="2414016"/>
            <a:ext cx="182880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Snap2List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2743200" y="2432304"/>
            <a:ext cx="41148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C7D7EA"/>
                </a:solidFill>
              </a:rPr>
              <a:t>Fast eBay listing creation, pricing, bulk tools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269480" y="2487168"/>
            <a:ext cx="658368" cy="201168"/>
          </a:xfrm>
          <a:prstGeom prst="rightArrow">
            <a:avLst/>
          </a:prstGeom>
          <a:solidFill>
            <a:srgbClr val="36526D"/>
          </a:solidFill>
          <a:ln w="12700">
            <a:solidFill>
              <a:srgbClr val="36526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38160" y="2432304"/>
            <a:ext cx="338328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B8F53D"/>
                </a:solidFill>
              </a:rPr>
              <a:t>Avoid bulk race; win on Vinted + trust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31520" y="3438144"/>
            <a:ext cx="182880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3Dsellers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2743200" y="3456432"/>
            <a:ext cx="41148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C7D7EA"/>
                </a:solidFill>
              </a:rPr>
              <a:t>Mature eBay seller suite with AI image-to-listing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269480" y="3511296"/>
            <a:ext cx="658368" cy="201168"/>
          </a:xfrm>
          <a:prstGeom prst="rightArrow">
            <a:avLst/>
          </a:prstGeom>
          <a:solidFill>
            <a:srgbClr val="36526D"/>
          </a:solidFill>
          <a:ln w="12700">
            <a:solidFill>
              <a:srgbClr val="36526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38160" y="3456432"/>
            <a:ext cx="338328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B8F53D"/>
                </a:solidFill>
              </a:rPr>
              <a:t>Win on simplicity + buyer-side wedge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31520" y="4462272"/>
            <a:ext cx="182880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List Perfectly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2743200" y="4480560"/>
            <a:ext cx="41148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C7D7EA"/>
                </a:solidFill>
              </a:rPr>
              <a:t>Established reseller ecosystem and crosslisting AI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269480" y="4535424"/>
            <a:ext cx="658368" cy="201168"/>
          </a:xfrm>
          <a:prstGeom prst="rightArrow">
            <a:avLst/>
          </a:prstGeom>
          <a:solidFill>
            <a:srgbClr val="36526D"/>
          </a:solidFill>
          <a:ln w="12700">
            <a:solidFill>
              <a:srgbClr val="36526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8160" y="4480560"/>
            <a:ext cx="338328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B8F53D"/>
                </a:solidFill>
              </a:rPr>
              <a:t>Win with UK/Vinted + category-specific insight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68680" y="5623560"/>
            <a:ext cx="22860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8FA3BA"/>
                </a:solidFill>
              </a:rPr>
              <a:t>Message to land in demos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868680" y="5870448"/>
            <a:ext cx="102412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Not just “Here is a title and description.” Show missing photos, price anomalies, risk confidence, and seller questions.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02920" y="656539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C8EA4"/>
                </a:solidFill>
              </a:rPr>
              <a:t>ListLens competitor analysis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11475720" y="6528816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C8EA4"/>
                </a:solidFill>
              </a:rPr>
              <a:t>07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Crosslisting workflow competitors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FD1E5"/>
                </a:solidFill>
              </a:rPr>
              <a:t>Vendoo, Crosslist, and SellerAider become dangerous if ListLens drifts into operational tooling too early.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2700">
            <a:solidFill>
              <a:srgbClr val="23415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17320"/>
            <a:ext cx="27432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What they own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874520"/>
            <a:ext cx="3840480" cy="2286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E6EEF8"/>
                </a:solidFill>
              </a:rPr>
              <a:t>• Marketplace breadth
</a:t>
            </a:r>
            <a:pPr indent="0" marL="0">
              <a:buNone/>
            </a:pPr>
            <a:r>
              <a:rPr lang="en-US" sz="1400" dirty="0">
                <a:solidFill>
                  <a:srgbClr val="E6EEF8"/>
                </a:solidFill>
              </a:rPr>
              <a:t>• Inventory management
</a:t>
            </a:r>
            <a:pPr indent="0" marL="0">
              <a:buNone/>
            </a:pPr>
            <a:r>
              <a:rPr lang="en-US" sz="1400" dirty="0">
                <a:solidFill>
                  <a:srgbClr val="E6EEF8"/>
                </a:solidFill>
              </a:rPr>
              <a:t>• Delisting / sold detection
</a:t>
            </a:r>
            <a:pPr indent="0" marL="0">
              <a:buNone/>
            </a:pPr>
            <a:r>
              <a:rPr lang="en-US" sz="1400" dirty="0">
                <a:solidFill>
                  <a:srgbClr val="E6EEF8"/>
                </a:solidFill>
              </a:rPr>
              <a:t>• Templates and imports
</a:t>
            </a:r>
            <a:pPr indent="0" marL="0">
              <a:buNone/>
            </a:pPr>
            <a:r>
              <a:rPr lang="en-US" sz="1400" dirty="0">
                <a:solidFill>
                  <a:srgbClr val="E6EEF8"/>
                </a:solidFill>
              </a:rPr>
              <a:t>• Reseller ops maturity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0" y="1417320"/>
            <a:ext cx="41148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What ListLens should own first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0" y="1874520"/>
            <a:ext cx="4297680" cy="2286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E6EEF8"/>
                </a:solidFill>
              </a:rPr>
              <a:t>• Category-specific analysis
</a:t>
            </a:r>
            <a:pPr indent="0" marL="0">
              <a:buNone/>
            </a:pPr>
            <a:r>
              <a:rPr lang="en-US" sz="1400" dirty="0">
                <a:solidFill>
                  <a:srgbClr val="E6EEF8"/>
                </a:solidFill>
              </a:rPr>
              <a:t>• Buyer-side risk reports
</a:t>
            </a:r>
            <a:pPr indent="0" marL="0">
              <a:buNone/>
            </a:pPr>
            <a:r>
              <a:rPr lang="en-US" sz="1400" dirty="0">
                <a:solidFill>
                  <a:srgbClr val="E6EEF8"/>
                </a:solidFill>
              </a:rPr>
              <a:t>• Missing evidence detection
</a:t>
            </a:r>
            <a:pPr indent="0" marL="0">
              <a:buNone/>
            </a:pPr>
            <a:r>
              <a:rPr lang="en-US" sz="1400" dirty="0">
                <a:solidFill>
                  <a:srgbClr val="E6EEF8"/>
                </a:solidFill>
              </a:rPr>
              <a:t>• Vinted/eBay listing quality
</a:t>
            </a:r>
            <a:pPr indent="0" marL="0">
              <a:buNone/>
            </a:pPr>
            <a:r>
              <a:rPr lang="en-US" sz="1400" dirty="0">
                <a:solidFill>
                  <a:srgbClr val="E6EEF8"/>
                </a:solidFill>
              </a:rPr>
              <a:t>• Clear confidence language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080760" y="1417320"/>
            <a:ext cx="0" cy="3749040"/>
          </a:xfrm>
          <a:prstGeom prst="line">
            <a:avLst/>
          </a:prstGeom>
          <a:noFill/>
          <a:ln w="12700">
            <a:solidFill>
              <a:srgbClr val="36526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4983480"/>
            <a:ext cx="10012680" cy="685800"/>
          </a:xfrm>
          <a:prstGeom prst="rect">
            <a:avLst/>
          </a:prstGeom>
          <a:solidFill>
            <a:srgbClr val="132642"/>
          </a:solidFill>
          <a:ln w="9525">
            <a:solidFill>
              <a:srgbClr val="38BDF8">
                <a:alpha val="5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POC principle: build the data model for inventory later, but do not spend the £75k POC proving another crosslisting dashboard.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502920" y="656539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C8EA4"/>
                </a:solidFill>
              </a:rPr>
              <a:t>ListLens competitor analysis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1475720" y="6528816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C8EA4"/>
                </a:solidFill>
              </a:rPr>
              <a:t>08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Buyer-side trust competitors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FD1E5"/>
                </a:solidFill>
              </a:rPr>
              <a:t>Authentication services are credible. ListLens Guard should sit earlier, cheaper, and wider.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2700">
            <a:solidFill>
              <a:srgbClr val="23415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554480"/>
            <a:ext cx="182880" cy="18288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34440" y="1508760"/>
            <a:ext cx="228600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CheckCheck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886200" y="1527048"/>
            <a:ext cx="694944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C7D7EA"/>
                </a:solidFill>
              </a:rPr>
              <a:t>Human expert authentication; stronger confidence, higher friction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68680" y="2651760"/>
            <a:ext cx="182880" cy="18288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34440" y="2606040"/>
            <a:ext cx="228600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StockX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886200" y="2624328"/>
            <a:ext cx="694944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C7D7EA"/>
                </a:solidFill>
              </a:rPr>
              <a:t>Marketplace + physical verification; not portable to eBay/Vinted listings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68680" y="3749040"/>
            <a:ext cx="182880" cy="182880"/>
          </a:xfrm>
          <a:prstGeom prst="ellipse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34440" y="3703320"/>
            <a:ext cx="228600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eBay / Vinted protections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886200" y="3721608"/>
            <a:ext cx="694944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C7D7EA"/>
                </a:solidFill>
              </a:rPr>
              <a:t>Native trust mechanisms; only selected items/categories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120640" y="4572000"/>
            <a:ext cx="1828800" cy="566928"/>
          </a:xfrm>
          <a:prstGeom prst="chevron">
            <a:avLst/>
          </a:prstGeom>
          <a:solidFill>
            <a:srgbClr val="B8F53D"/>
          </a:solidFill>
          <a:ln w="12700">
            <a:solidFill>
              <a:srgbClr val="B8F5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0" y="4206240"/>
            <a:ext cx="55778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FA3BA"/>
                </a:solidFill>
              </a:rPr>
              <a:t>ListLens Guard position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280160" y="5349240"/>
            <a:ext cx="95097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Fast AI risk screen before you buy — not formal authentication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502920" y="656539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C8EA4"/>
                </a:solidFill>
              </a:rPr>
              <a:t>ListLens competitor analysis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1475720" y="6528816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C8EA4"/>
                </a:solidFill>
              </a:rPr>
              <a:t>09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White space: resale intelligence, not copywriting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FD1E5"/>
                </a:solidFill>
              </a:rPr>
              <a:t>ListLens can combine seller utility and buyer protection in one portable layer.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2700">
            <a:solidFill>
              <a:srgbClr val="23415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0" y="3474720"/>
            <a:ext cx="8412480" cy="0"/>
          </a:xfrm>
          <a:prstGeom prst="line">
            <a:avLst/>
          </a:prstGeom>
          <a:noFill/>
          <a:ln w="19050">
            <a:solidFill>
              <a:srgbClr val="36526D"/>
            </a:solidFill>
            <a:prstDash val="solid"/>
            <a:headEnd type="none"/>
            <a:tailEnd type="triangle"/>
          </a:ln>
        </p:spPr>
      </p:sp>
      <p:sp>
        <p:nvSpPr>
          <p:cNvPr id="6" name="Text 4"/>
          <p:cNvSpPr/>
          <p:nvPr/>
        </p:nvSpPr>
        <p:spPr>
          <a:xfrm>
            <a:off x="1280160" y="3063240"/>
            <a:ext cx="822960" cy="822960"/>
          </a:xfrm>
          <a:prstGeom prst="rect">
            <a:avLst/>
          </a:prstGeom>
          <a:solidFill>
            <a:srgbClr val="12233A"/>
          </a:solidFill>
          <a:ln w="19050">
            <a:solidFill>
              <a:srgbClr val="36526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4096512"/>
            <a:ext cx="201168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Photos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4462272"/>
            <a:ext cx="205740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BFD1E5"/>
                </a:solidFill>
              </a:rPr>
              <a:t>Seller uploads item photos or buyer submits URL/screenshot</a:t>
            </a:r>
            <a:endParaRPr lang="en-US" sz="930" dirty="0"/>
          </a:p>
        </p:txBody>
      </p:sp>
      <p:sp>
        <p:nvSpPr>
          <p:cNvPr id="9" name="Text 7"/>
          <p:cNvSpPr/>
          <p:nvPr/>
        </p:nvSpPr>
        <p:spPr>
          <a:xfrm>
            <a:off x="4206240" y="3063240"/>
            <a:ext cx="822960" cy="822960"/>
          </a:xfrm>
          <a:prstGeom prst="rect">
            <a:avLst/>
          </a:prstGeom>
          <a:solidFill>
            <a:srgbClr val="B8F53D"/>
          </a:solidFill>
          <a:ln w="19050">
            <a:solidFill>
              <a:srgbClr val="B8F53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220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11880" y="4096512"/>
            <a:ext cx="201168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Specialist Lens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11880" y="4462272"/>
            <a:ext cx="205740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BFD1E5"/>
                </a:solidFill>
              </a:rPr>
              <a:t>SoleLens extracts model, size, style code, condition and evidence gaps</a:t>
            </a:r>
            <a:endParaRPr lang="en-US" sz="930" dirty="0"/>
          </a:p>
        </p:txBody>
      </p:sp>
      <p:sp>
        <p:nvSpPr>
          <p:cNvPr id="12" name="Text 10"/>
          <p:cNvSpPr/>
          <p:nvPr/>
        </p:nvSpPr>
        <p:spPr>
          <a:xfrm>
            <a:off x="7223760" y="3063240"/>
            <a:ext cx="822960" cy="822960"/>
          </a:xfrm>
          <a:prstGeom prst="rect">
            <a:avLst/>
          </a:prstGeom>
          <a:solidFill>
            <a:srgbClr val="12233A"/>
          </a:solidFill>
          <a:ln w="19050">
            <a:solidFill>
              <a:srgbClr val="36526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629400" y="4096512"/>
            <a:ext cx="201168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Marketplace Output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629400" y="4462272"/>
            <a:ext cx="205740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BFD1E5"/>
                </a:solidFill>
              </a:rPr>
              <a:t>Vinted/eBay listing draft, price range and confidence warnings</a:t>
            </a:r>
            <a:endParaRPr lang="en-US" sz="930" dirty="0"/>
          </a:p>
        </p:txBody>
      </p:sp>
      <p:sp>
        <p:nvSpPr>
          <p:cNvPr id="15" name="Text 13"/>
          <p:cNvSpPr/>
          <p:nvPr/>
        </p:nvSpPr>
        <p:spPr>
          <a:xfrm>
            <a:off x="9692640" y="3063240"/>
            <a:ext cx="822960" cy="822960"/>
          </a:xfrm>
          <a:prstGeom prst="rect">
            <a:avLst/>
          </a:prstGeom>
          <a:solidFill>
            <a:srgbClr val="12233A"/>
          </a:solidFill>
          <a:ln w="19050">
            <a:solidFill>
              <a:srgbClr val="36526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098280" y="4096512"/>
            <a:ext cx="201168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Risk / Trust Report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098280" y="4462272"/>
            <a:ext cx="205740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BFD1E5"/>
                </a:solidFill>
              </a:rPr>
              <a:t>Buyer risk level, missing photos, price flags and seller questions</a:t>
            </a:r>
            <a:endParaRPr lang="en-US" sz="930" dirty="0"/>
          </a:p>
        </p:txBody>
      </p:sp>
      <p:sp>
        <p:nvSpPr>
          <p:cNvPr id="18" name="Text 16"/>
          <p:cNvSpPr/>
          <p:nvPr/>
        </p:nvSpPr>
        <p:spPr>
          <a:xfrm>
            <a:off x="914400" y="1645920"/>
            <a:ext cx="1033272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Generic AI writes descriptions. Specialist lenses understand resale categories.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502920" y="656539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C8EA4"/>
                </a:solidFill>
              </a:rPr>
              <a:t>ListLens competitor analysis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11475720" y="6528816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C8EA4"/>
                </a:solidFill>
              </a:rPr>
              <a:t>10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Competitor-by-competitor battle plan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FD1E5"/>
                </a:solidFill>
              </a:rPr>
              <a:t>The plan is not to mirror every feature. It is to make ListLens clearly different.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2700">
            <a:solidFill>
              <a:srgbClr val="23415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17320"/>
            <a:ext cx="44805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Against Vinting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822960" y="1764792"/>
            <a:ext cx="4480560" cy="0"/>
          </a:xfrm>
          <a:prstGeom prst="line">
            <a:avLst/>
          </a:prstGeom>
          <a:noFill/>
          <a:ln w="15240">
            <a:solidFill>
              <a:srgbClr val="B8F5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920240"/>
            <a:ext cx="484632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C7D7EA"/>
                </a:solidFill>
              </a:rPr>
              <a:t>Win on depth: SoleLens, missing evidence, buyer Guard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446520" y="1417320"/>
            <a:ext cx="44805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Against Snap2List / 3Dsellers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46520" y="1764792"/>
            <a:ext cx="4480560" cy="0"/>
          </a:xfrm>
          <a:prstGeom prst="line">
            <a:avLst/>
          </a:prstGeom>
          <a:noFill/>
          <a:ln w="15240">
            <a:solidFill>
              <a:srgbClr val="B8F5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920240"/>
            <a:ext cx="484632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C7D7EA"/>
                </a:solidFill>
              </a:rPr>
              <a:t>Win by avoiding eBay-only and seller-suite complexity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22960" y="2816352"/>
            <a:ext cx="44805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Against SellerAider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22960" y="3163824"/>
            <a:ext cx="4480560" cy="0"/>
          </a:xfrm>
          <a:prstGeom prst="line">
            <a:avLst/>
          </a:prstGeom>
          <a:noFill/>
          <a:ln w="15240">
            <a:solidFill>
              <a:srgbClr val="B8F5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319272"/>
            <a:ext cx="484632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C7D7EA"/>
                </a:solidFill>
              </a:rPr>
              <a:t>Win with trust intelligence, not automation breadth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446520" y="2816352"/>
            <a:ext cx="44805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Against Vendoo / Crosslist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446520" y="3163824"/>
            <a:ext cx="4480560" cy="0"/>
          </a:xfrm>
          <a:prstGeom prst="line">
            <a:avLst/>
          </a:prstGeom>
          <a:noFill/>
          <a:ln w="15240">
            <a:solidFill>
              <a:srgbClr val="B8F5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6520" y="3319272"/>
            <a:ext cx="484632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C7D7EA"/>
                </a:solidFill>
              </a:rPr>
              <a:t>Do not enter the crosslisting arms race in POC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22960" y="4215384"/>
            <a:ext cx="44805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Against CheckCheck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822960" y="4562856"/>
            <a:ext cx="4480560" cy="0"/>
          </a:xfrm>
          <a:prstGeom prst="line">
            <a:avLst/>
          </a:prstGeom>
          <a:noFill/>
          <a:ln w="15240">
            <a:solidFill>
              <a:srgbClr val="B8F5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4718304"/>
            <a:ext cx="484632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C7D7EA"/>
                </a:solidFill>
              </a:rPr>
              <a:t>Position Guard before formal authentication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446520" y="4215384"/>
            <a:ext cx="44805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Against eBay / Vinted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6446520" y="4562856"/>
            <a:ext cx="4480560" cy="0"/>
          </a:xfrm>
          <a:prstGeom prst="line">
            <a:avLst/>
          </a:prstGeom>
          <a:noFill/>
          <a:ln w="15240">
            <a:solidFill>
              <a:srgbClr val="B8F5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46520" y="4718304"/>
            <a:ext cx="484632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C7D7EA"/>
                </a:solidFill>
              </a:rPr>
              <a:t>Bridge platforms and make risk transparent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02920" y="656539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C8EA4"/>
                </a:solidFill>
              </a:rPr>
              <a:t>ListLens competitor analysis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11475720" y="6528816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C8EA4"/>
                </a:solidFill>
              </a:rPr>
              <a:t>11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POC priorities and proof points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FD1E5"/>
                </a:solidFill>
              </a:rPr>
              <a:t>A successful POC proves buyers and sellers pay for intelligence, not just text generation.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2700">
            <a:solidFill>
              <a:srgbClr val="23415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17320"/>
            <a:ext cx="27432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Build / prove now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14400" y="1856232"/>
            <a:ext cx="137160" cy="137160"/>
          </a:xfrm>
          <a:prstGeom prst="ellipse">
            <a:avLst/>
          </a:prstGeom>
          <a:solidFill>
            <a:srgbClr val="B8F53D"/>
          </a:solidFill>
          <a:ln w="12700">
            <a:solidFill>
              <a:srgbClr val="B8F5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70432" y="1828800"/>
            <a:ext cx="38404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D8E4F1"/>
                </a:solidFill>
              </a:rPr>
              <a:t>Seller photo-to-listing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914400" y="2240280"/>
            <a:ext cx="137160" cy="137160"/>
          </a:xfrm>
          <a:prstGeom prst="ellipse">
            <a:avLst/>
          </a:prstGeom>
          <a:solidFill>
            <a:srgbClr val="B8F53D"/>
          </a:solidFill>
          <a:ln w="12700">
            <a:solidFill>
              <a:srgbClr val="B8F5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0432" y="2212848"/>
            <a:ext cx="38404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D8E4F1"/>
                </a:solidFill>
              </a:rPr>
              <a:t>Vinted export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914400" y="2624328"/>
            <a:ext cx="137160" cy="137160"/>
          </a:xfrm>
          <a:prstGeom prst="ellipse">
            <a:avLst/>
          </a:prstGeom>
          <a:solidFill>
            <a:srgbClr val="B8F53D"/>
          </a:solidFill>
          <a:ln w="12700">
            <a:solidFill>
              <a:srgbClr val="B8F5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0432" y="2596896"/>
            <a:ext cx="38404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D8E4F1"/>
                </a:solidFill>
              </a:rPr>
              <a:t>eBay sandbox draft flow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914400" y="3008376"/>
            <a:ext cx="137160" cy="137160"/>
          </a:xfrm>
          <a:prstGeom prst="ellipse">
            <a:avLst/>
          </a:prstGeom>
          <a:solidFill>
            <a:srgbClr val="B8F53D"/>
          </a:solidFill>
          <a:ln w="12700">
            <a:solidFill>
              <a:srgbClr val="B8F5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70432" y="2980944"/>
            <a:ext cx="38404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D8E4F1"/>
                </a:solidFill>
              </a:rPr>
              <a:t>SoleLens trainer analysis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14400" y="3392424"/>
            <a:ext cx="137160" cy="137160"/>
          </a:xfrm>
          <a:prstGeom prst="ellipse">
            <a:avLst/>
          </a:prstGeom>
          <a:solidFill>
            <a:srgbClr val="B8F53D"/>
          </a:solidFill>
          <a:ln w="12700">
            <a:solidFill>
              <a:srgbClr val="B8F5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70432" y="3364992"/>
            <a:ext cx="38404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D8E4F1"/>
                </a:solidFill>
              </a:rPr>
              <a:t>Buyer risk report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14400" y="3776472"/>
            <a:ext cx="137160" cy="137160"/>
          </a:xfrm>
          <a:prstGeom prst="ellipse">
            <a:avLst/>
          </a:prstGeom>
          <a:solidFill>
            <a:srgbClr val="B8F53D"/>
          </a:solidFill>
          <a:ln w="12700">
            <a:solidFill>
              <a:srgbClr val="B8F5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70432" y="3749040"/>
            <a:ext cx="38404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D8E4F1"/>
                </a:solidFill>
              </a:rPr>
              <a:t>Missing-photo warnings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14400" y="4160520"/>
            <a:ext cx="137160" cy="137160"/>
          </a:xfrm>
          <a:prstGeom prst="ellipse">
            <a:avLst/>
          </a:prstGeom>
          <a:solidFill>
            <a:srgbClr val="B8F53D"/>
          </a:solidFill>
          <a:ln w="12700">
            <a:solidFill>
              <a:srgbClr val="B8F5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70432" y="4133088"/>
            <a:ext cx="38404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D8E4F1"/>
                </a:solidFill>
              </a:rPr>
              <a:t>Seller-question generator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14400" y="4544568"/>
            <a:ext cx="137160" cy="137160"/>
          </a:xfrm>
          <a:prstGeom prst="ellipse">
            <a:avLst/>
          </a:prstGeom>
          <a:solidFill>
            <a:srgbClr val="B8F53D"/>
          </a:solidFill>
          <a:ln w="12700">
            <a:solidFill>
              <a:srgbClr val="B8F5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70432" y="4517136"/>
            <a:ext cx="38404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D8E4F1"/>
                </a:solidFill>
              </a:rPr>
              <a:t>Stripe payment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492240" y="1417320"/>
            <a:ext cx="27432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Avoid / defer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6583680" y="1856232"/>
            <a:ext cx="137160" cy="13716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39712" y="1828800"/>
            <a:ext cx="39319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D8E4F1"/>
                </a:solidFill>
              </a:rPr>
              <a:t>Inventory sync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583680" y="2313432"/>
            <a:ext cx="137160" cy="13716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39712" y="2286000"/>
            <a:ext cx="39319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D8E4F1"/>
                </a:solidFill>
              </a:rPr>
              <a:t>Bulk crosslisting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583680" y="2770632"/>
            <a:ext cx="137160" cy="13716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39712" y="2743200"/>
            <a:ext cx="39319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D8E4F1"/>
                </a:solidFill>
              </a:rPr>
              <a:t>WatchLens / MotorLens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583680" y="3227832"/>
            <a:ext cx="137160" cy="13716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39712" y="3200400"/>
            <a:ext cx="39319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D8E4F1"/>
                </a:solidFill>
              </a:rPr>
              <a:t>Formal authentication claims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583680" y="3685032"/>
            <a:ext cx="137160" cy="13716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39712" y="3657600"/>
            <a:ext cx="39319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D8E4F1"/>
                </a:solidFill>
              </a:rPr>
              <a:t>“This is fake” language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914400" y="5486400"/>
            <a:ext cx="10241280" cy="594360"/>
          </a:xfrm>
          <a:prstGeom prst="rect">
            <a:avLst/>
          </a:prstGeom>
          <a:solidFill>
            <a:srgbClr val="132642"/>
          </a:solidFill>
          <a:ln w="9525">
            <a:solidFill>
              <a:srgbClr val="B8F53D">
                <a:alpha val="6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Competitive verdict: ListLens should be the AI trust layer for resale — starting with eBay, Vinted, and SoleLens sneaker checks.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502920" y="656539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C8EA4"/>
                </a:solidFill>
              </a:rPr>
              <a:t>ListLens competitor analysis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11475720" y="6528816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C8EA4"/>
                </a:solidFill>
              </a:rPr>
              <a:t>12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Appendix: source notes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FD1E5"/>
                </a:solidFill>
              </a:rPr>
              <a:t>Competitor statements use public product pages plus the supplied ListLens project specification.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2700">
            <a:solidFill>
              <a:srgbClr val="23415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63040"/>
            <a:ext cx="10241280" cy="2194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E6EEF8"/>
                </a:solidFill>
              </a:rPr>
              <a:t>• Supplied ListLens materials: Project Specification and One-Page Offering Summary.
</a:t>
            </a:r>
            <a:pPr indent="0" marL="0">
              <a:buNone/>
            </a:pPr>
            <a:r>
              <a:rPr lang="en-US" sz="1400" dirty="0">
                <a:solidFill>
                  <a:srgbClr val="E6EEF8"/>
                </a:solidFill>
              </a:rPr>
              <a:t>• Public competitor/product references reviewed: eBay AI tools, Vinted Item Verification, Vinting, Snap2List, 3Dsellers, List Perfectly, SellerAider, Vendoo, Crosslist, CheckCheck, StockX.
</a:t>
            </a:r>
            <a:pPr indent="0" marL="0">
              <a:buNone/>
            </a:pPr>
            <a:r>
              <a:rPr lang="en-US" sz="1400" dirty="0">
                <a:solidFill>
                  <a:srgbClr val="E6EEF8"/>
                </a:solidFill>
              </a:rPr>
              <a:t>• Positioning synthesis: ListLens should not be presented as an AI description writer; it should be the AI trust layer for eBay and Vinted resale.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4206240"/>
            <a:ext cx="100584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B8F53D"/>
                </a:solidFill>
              </a:rPr>
              <a:t>Note: Guard should remain framed as an AI-assisted risk screen, not formal authentication.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" y="656539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C8EA4"/>
                </a:solidFill>
              </a:rPr>
              <a:t>ListLens competitor analysis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475720" y="6528816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C8EA4"/>
                </a:solidFill>
              </a:rPr>
              <a:t>13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ListLens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ListLens Competitor Analysis</dc:title>
  <dc:subject>Competitor analysis deck</dc:subject>
  <dc:creator>OpenAI</dc:creator>
  <cp:lastModifiedBy>OpenAI</cp:lastModifiedBy>
  <cp:revision>1</cp:revision>
  <dcterms:created xsi:type="dcterms:W3CDTF">2026-04-26T02:28:36Z</dcterms:created>
  <dcterms:modified xsi:type="dcterms:W3CDTF">2026-04-26T02:28:36Z</dcterms:modified>
</cp:coreProperties>
</file>